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b9091e54e4870" /><Relationship Type="http://schemas.openxmlformats.org/officeDocument/2006/relationships/extended-properties" Target="/docProps/app.xml" Id="R497be8a985994015" /><Relationship Type="http://schemas.openxmlformats.org/officeDocument/2006/relationships/officeDocument" Target="/ppt/presentation.xml" Id="Re8beda2d672944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ff263814b4b60"/>
  </p:sldMasterIdLst>
  <p:notesMasterIdLst>
    <p:notesMasterId xmlns:r="http://schemas.openxmlformats.org/officeDocument/2006/relationships" r:id="R1635f3f00b0d4276"/>
  </p:notesMasterIdLst>
  <p:sldIdLst>
    <p:sldId xmlns:r="http://schemas.openxmlformats.org/officeDocument/2006/relationships" id="256" r:id="Ra241ef1c596b4d9c"/>
    <p:sldId xmlns:r="http://schemas.openxmlformats.org/officeDocument/2006/relationships" id="257" r:id="R30f676c9866f4299"/>
    <p:sldId xmlns:r="http://schemas.openxmlformats.org/officeDocument/2006/relationships" id="258" r:id="R752cf1b6285f4332"/>
    <p:sldId xmlns:r="http://schemas.openxmlformats.org/officeDocument/2006/relationships" id="259" r:id="Rd0b7cbb946e3450a"/>
    <p:sldId xmlns:r="http://schemas.openxmlformats.org/officeDocument/2006/relationships" id="260" r:id="R491a0ab8fbf343f0"/>
    <p:sldId xmlns:r="http://schemas.openxmlformats.org/officeDocument/2006/relationships" id="261" r:id="Rd4b9744cefc04057"/>
    <p:sldId xmlns:r="http://schemas.openxmlformats.org/officeDocument/2006/relationships" id="262" r:id="Ra74d717dd9f54f95"/>
    <p:sldId xmlns:r="http://schemas.openxmlformats.org/officeDocument/2006/relationships" id="263" r:id="R9c0de996cfb7457b"/>
    <p:sldId xmlns:r="http://schemas.openxmlformats.org/officeDocument/2006/relationships" id="264" r:id="Reb3f7ca2cb034606"/>
    <p:sldId xmlns:r="http://schemas.openxmlformats.org/officeDocument/2006/relationships" id="265" r:id="Rabdc47a8856e4176"/>
    <p:sldId xmlns:r="http://schemas.openxmlformats.org/officeDocument/2006/relationships" id="266" r:id="R1383d787607a44c9"/>
    <p:sldId xmlns:r="http://schemas.openxmlformats.org/officeDocument/2006/relationships" id="267" r:id="R4ccd22d6b26c4b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ff263814b4b60" /><Relationship Type="http://schemas.openxmlformats.org/officeDocument/2006/relationships/theme" Target="/ppt/theme/theme1.xml" Id="Ra61d4444a4434932" /><Relationship Type="http://schemas.openxmlformats.org/officeDocument/2006/relationships/notesMaster" Target="/ppt/notesMasters/notesMaster1.xml" Id="R1635f3f00b0d4276" /><Relationship Type="http://schemas.openxmlformats.org/officeDocument/2006/relationships/presProps" Target="/ppt/presProps.xml" Id="Rbd637f2c739c40bf" /><Relationship Type="http://schemas.openxmlformats.org/officeDocument/2006/relationships/viewProps" Target="/ppt/viewProps.xml" Id="R9031b72821594b96" /><Relationship Type="http://schemas.openxmlformats.org/officeDocument/2006/relationships/tableStyles" Target="/ppt/tableStyles.xml" Id="R25ff725ec0d74e0f" /><Relationship Type="http://schemas.openxmlformats.org/officeDocument/2006/relationships/slide" Target="/ppt/slides/slide1.xml" Id="Ra241ef1c596b4d9c" /><Relationship Type="http://schemas.openxmlformats.org/officeDocument/2006/relationships/slide" Target="/ppt/slides/slide2.xml" Id="R30f676c9866f4299" /><Relationship Type="http://schemas.openxmlformats.org/officeDocument/2006/relationships/slide" Target="/ppt/slides/slide3.xml" Id="R752cf1b6285f4332" /><Relationship Type="http://schemas.openxmlformats.org/officeDocument/2006/relationships/slide" Target="/ppt/slides/slide4.xml" Id="Rd0b7cbb946e3450a" /><Relationship Type="http://schemas.openxmlformats.org/officeDocument/2006/relationships/slide" Target="/ppt/slides/slide5.xml" Id="R491a0ab8fbf343f0" /><Relationship Type="http://schemas.openxmlformats.org/officeDocument/2006/relationships/slide" Target="/ppt/slides/slide6.xml" Id="Rd4b9744cefc04057" /><Relationship Type="http://schemas.openxmlformats.org/officeDocument/2006/relationships/slide" Target="/ppt/slides/slide7.xml" Id="Ra74d717dd9f54f95" /><Relationship Type="http://schemas.openxmlformats.org/officeDocument/2006/relationships/slide" Target="/ppt/slides/slide8.xml" Id="R9c0de996cfb7457b" /><Relationship Type="http://schemas.openxmlformats.org/officeDocument/2006/relationships/slide" Target="/ppt/slides/slide9.xml" Id="Reb3f7ca2cb034606" /><Relationship Type="http://schemas.openxmlformats.org/officeDocument/2006/relationships/slide" Target="/ppt/slides/slide10.xml" Id="Rabdc47a8856e4176" /><Relationship Type="http://schemas.openxmlformats.org/officeDocument/2006/relationships/slide" Target="/ppt/slides/slide11.xml" Id="R1383d787607a44c9" /><Relationship Type="http://schemas.openxmlformats.org/officeDocument/2006/relationships/slide" Target="/ppt/slides/slide12.xml" Id="R4ccd22d6b26c4b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26b8cb859bd42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01493792194892" /><Relationship Type="http://schemas.openxmlformats.org/officeDocument/2006/relationships/notesMaster" Target="/ppt/notesMasters/notesMaster1.xml" Id="R02c6aef0616244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d5dc161d414ff4" /><Relationship Type="http://schemas.openxmlformats.org/officeDocument/2006/relationships/notesMaster" Target="/ppt/notesMasters/notesMaster1.xml" Id="Rd901efff650c48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01560a69044e96" /><Relationship Type="http://schemas.openxmlformats.org/officeDocument/2006/relationships/notesMaster" Target="/ppt/notesMasters/notesMaster1.xml" Id="R0c2c86df4c834c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820ecab4034a87" /><Relationship Type="http://schemas.openxmlformats.org/officeDocument/2006/relationships/notesMaster" Target="/ppt/notesMasters/notesMaster1.xml" Id="R9d2786771f934b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d44a35a5044fee" /><Relationship Type="http://schemas.openxmlformats.org/officeDocument/2006/relationships/notesMaster" Target="/ppt/notesMasters/notesMaster1.xml" Id="Rf33d41fc201e44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8702dd4da54fdb" /><Relationship Type="http://schemas.openxmlformats.org/officeDocument/2006/relationships/notesMaster" Target="/ppt/notesMasters/notesMaster1.xml" Id="R73d95307489748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0fed3e3756412d" /><Relationship Type="http://schemas.openxmlformats.org/officeDocument/2006/relationships/notesMaster" Target="/ppt/notesMasters/notesMaster1.xml" Id="R82454e4d292142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ad0a0921614a99" /><Relationship Type="http://schemas.openxmlformats.org/officeDocument/2006/relationships/notesMaster" Target="/ppt/notesMasters/notesMaster1.xml" Id="R9b488200d5044e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04c57d795c474b" /><Relationship Type="http://schemas.openxmlformats.org/officeDocument/2006/relationships/notesMaster" Target="/ppt/notesMasters/notesMaster1.xml" Id="R28e48364de5a4c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3d1d2b22bc4fdc" /><Relationship Type="http://schemas.openxmlformats.org/officeDocument/2006/relationships/notesMaster" Target="/ppt/notesMasters/notesMaster1.xml" Id="R9a38708f4ec142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d068e3896d47f3" /><Relationship Type="http://schemas.openxmlformats.org/officeDocument/2006/relationships/notesMaster" Target="/ppt/notesMasters/notesMaster1.xml" Id="R5429b1b5be464d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47cc7885254400" /><Relationship Type="http://schemas.openxmlformats.org/officeDocument/2006/relationships/notesMaster" Target="/ppt/notesMasters/notesMaster1.xml" Id="R2b1a36a9ff8b41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24990647f469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8d74897bcf74853" /><Relationship Type="http://schemas.openxmlformats.org/officeDocument/2006/relationships/slideLayout" Target="/ppt/slideLayouts/slideLayout2.xml" Id="Rfc19ea0cdd084c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19ea0cdd084c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a5799dc2074869" /><Relationship Type="http://schemas.openxmlformats.org/officeDocument/2006/relationships/notesSlide" Target="/ppt/notesSlides/notesSlide1.xml" Id="R50df89fcc52146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ab82449ca446a6" /><Relationship Type="http://schemas.openxmlformats.org/officeDocument/2006/relationships/notesSlide" Target="/ppt/notesSlides/notesSlide2.xml" Id="R7a3a204ad26f49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270fbdf5984e97" /><Relationship Type="http://schemas.openxmlformats.org/officeDocument/2006/relationships/notesSlide" Target="/ppt/notesSlides/notesSlide3.xml" Id="Re59d94770a5a4c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8e32cb77344a0d" /><Relationship Type="http://schemas.openxmlformats.org/officeDocument/2006/relationships/notesSlide" Target="/ppt/notesSlides/notesSlide4.xml" Id="R488f16b10db747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0305a092534d5c" /><Relationship Type="http://schemas.openxmlformats.org/officeDocument/2006/relationships/notesSlide" Target="/ppt/notesSlides/notesSlide5.xml" Id="R787783aea8b54b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1b675f13934d54" /><Relationship Type="http://schemas.openxmlformats.org/officeDocument/2006/relationships/notesSlide" Target="/ppt/notesSlides/notesSlide6.xml" Id="R05e9bba1155f46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d5769578344c13" /><Relationship Type="http://schemas.openxmlformats.org/officeDocument/2006/relationships/notesSlide" Target="/ppt/notesSlides/notesSlide7.xml" Id="R9514ab9c026a4e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155c253a1b4403" /><Relationship Type="http://schemas.openxmlformats.org/officeDocument/2006/relationships/notesSlide" Target="/ppt/notesSlides/notesSlide8.xml" Id="R652aab70704246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30b87a78d24471" /><Relationship Type="http://schemas.openxmlformats.org/officeDocument/2006/relationships/notesSlide" Target="/ppt/notesSlides/notesSlide9.xml" Id="Rdabd2e6a810446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3a723fa7444664" /><Relationship Type="http://schemas.openxmlformats.org/officeDocument/2006/relationships/notesSlide" Target="/ppt/notesSlides/notesSlide10.xml" Id="R266153d9ccbe4a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8a18db54a14ba3" /><Relationship Type="http://schemas.openxmlformats.org/officeDocument/2006/relationships/notesSlide" Target="/ppt/notesSlides/notesSlide11.xml" Id="R7febf72696f445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2dbec777634532" /><Relationship Type="http://schemas.openxmlformats.org/officeDocument/2006/relationships/notesSlide" Target="/ppt/notesSlides/notesSlide12.xml" Id="R9a9ec3c5e57f4b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F263FF-CA45-436A-82C3-BA21FEB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7AC83-F770-49AA-9AF3-ED776151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B7082-9374-4B17-B469-4381D6E4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7640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EB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48B83-F28B-497A-8465-3ABE4291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2065020"/>
            <a:ext cx="2423160" cy="2423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6C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01CE2-5ACC-4F86-8645-901B22D9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90" y="2453640"/>
            <a:ext cx="164592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2C809-D117-4702-A55D-A81B25A9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2030730"/>
            <a:ext cx="2491740" cy="2491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B978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C8016-2EDA-42B3-8909-A400F65F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5072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7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782E"/>
                </a:solidFill>
                <a:latin typeface="Microsoft YaHei"/>
                <a:ea typeface="Microsoft YaHei"/>
                <a:cs typeface="Microsoft YaHei"/>
              </a:rPr>
              <a:t>凯氏带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1D1C9-5581-45F5-93C3-B75430F4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16B04-767C-4C95-81F7-E9EF292A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7E8"/>
                </a:solidFill>
                <a:latin typeface="Microsoft YaHei"/>
                <a:ea typeface="Microsoft YaHei"/>
                <a:cs typeface="Microsoft YaHei"/>
              </a:rPr>
              <a:t>凯氏带研究进展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E14D8-BDA0-4018-B366-5DBE7CA5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6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9E6D3"/>
                </a:solidFill>
                <a:latin typeface="Microsoft YaHei"/>
                <a:ea typeface="Microsoft YaHei"/>
                <a:cs typeface="Microsoft YaHei"/>
              </a:rPr>
              <a:t>从内皮层屏障、局部木质素沉积到环境可塑性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0EC53-BC03-4106-ADEA-E05ACCBB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2F22"/>
          </a:solidFill>
          <a:ln xmlns:a="http://schemas.openxmlformats.org/drawingml/2006/main" w="9525">
            <a:solidFill>
              <a:srgbClr val="C99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7DF3D-CC6C-446D-8E8B-169FB8B9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288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Casparian strip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29FD7-F551-4CBC-8D71-1ADCADD5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62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2F"/>
          </a:solidFill>
          <a:ln xmlns:a="http://schemas.openxmlformats.org/drawingml/2006/main" w="9525">
            <a:solidFill>
              <a:srgbClr val="9BCF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92254-8426-497F-9271-C8E828DF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288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C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BCF8B"/>
                </a:solidFill>
                <a:latin typeface="Microsoft YaHei"/>
                <a:ea typeface="Microsoft YaHei"/>
                <a:cs typeface="Microsoft YaHei"/>
              </a:rPr>
              <a:t>Endodermis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337C7-1C56-4449-9370-E546C159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945"/>
          </a:solidFill>
          <a:ln xmlns:a="http://schemas.openxmlformats.org/drawingml/2006/main" w="9525">
            <a:solidFill>
              <a:srgbClr val="9FD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14113-13BE-4411-96B8-C2FA4BB7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288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D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0E0"/>
                </a:solidFill>
                <a:latin typeface="Microsoft YaHei"/>
                <a:ea typeface="Microsoft YaHei"/>
                <a:cs typeface="Microsoft YaHei"/>
              </a:rPr>
              <a:t>Apoplastic barrier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E166D-9372-4545-9177-C863536F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5C7"/>
                </a:solidFill>
                <a:latin typeface="Microsoft YaHei"/>
                <a:ea typeface="Microsoft YaHei"/>
                <a:cs typeface="Microsoft YaHei"/>
              </a:rPr>
              <a:t>汇报初稿 · 可继续补充具体物种和实验数据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297BC-F4D4-4AE7-9B92-3BDA5669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C2D54-F117-427D-805D-A0E10CDF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Prepared draft | sources summarized in final slides</a:t>
            </a:r>
          </a:p>
        </p:txBody>
      </p:sp>
    </p:spTree>
    <p:extLst>
      <p:ext uri="{BB962C8B-B14F-4D97-AF65-F5344CB8AC3E}">
        <p14:creationId xmlns:p14="http://schemas.microsoft.com/office/powerpoint/2010/main" val="20011361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1BA166-273A-4116-B119-B9BBFB49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00B25-EFDF-4A44-AD95-7D9FF59E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9C6E8-0A39-45C7-BB43-F02CF77E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4E"/>
                </a:solidFill>
                <a:latin typeface="Aptos"/>
                <a:ea typeface="Aptos"/>
                <a:cs typeface="Aptos"/>
              </a:rPr>
              <a:t>CORE 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F18C4-BAD3-4A9F-B5CB-56B6D54C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凯氏带不只是“封条”，而是可感知、可修复、可塑的根部屏障系统。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C385E-3BC3-4748-BB2E-7F93D5FA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445FF-D39C-4593-BAEB-7C334800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27FC7-72FB-4914-9778-E2EFCF63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已经比较清楚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20C5D-D439-4CA6-B6AC-5E6AF4C8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A6E80-5318-4FED-B81E-9E21314C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主要屏障位置是内皮层径向/横向壁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07E7F-BD20-470B-8C90-30DDBF2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567B3-0D2A-4C73-9943-44E602E6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凯氏带核心聚合物以木质素为主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763B8-71C9-4354-B753-71599543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46795-3F63-40F4-AF4F-243B6262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CASP scaffold 限定沉积区域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8B972-5812-4EE4-8B4D-1ECA661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25AFB-0A67-46A6-9C0F-A9FB29AF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MYB36 是发育性转录开关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0DB95-0143-43A6-BA83-3A67E390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7EB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BD127-07E0-43F3-AA57-B3EBB181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近年推进最快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EB960-2A90-43CA-AD06-06E80E8E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E6400-7F03-47D9-B698-12EADEC3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980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CIF–SGN3–SGN1 监测屏障完整性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23D5E-894E-47E1-AF19-230262A5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FB50C-22E5-4734-85AC-66BD0852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4795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缺陷会触发补偿性栓质化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F47138-CAEF-4481-B6AC-35D693EA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8C92C-B81E-4ED6-BDBB-74BD01FD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8610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外皮层/exodermis 成为作物根屏障热点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DDCF7-2B21-4EC1-9924-53E3C025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6A1CEE-5AE9-4A7E-8020-3B943EF5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2425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活体成像和细胞类型组学正在重写模型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6B99E-6D34-49A3-8464-7917B66E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1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5EC1C8-E465-4F98-BF35-A8C446E6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rPr>
              <a:t>仍然悬而未决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43D28C-1980-4C6C-9A2D-DD04CC8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093DA-AB28-4085-9827-95D007B4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不同物种的保守性和差异性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6A398-6526-4636-BC1E-B99EE2F8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6F31A9-39B0-405D-8398-BE226BFA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4795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木质素、栓质、矿质营养之间如何耦合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30E8E8-821C-48F9-8850-917AE512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23FA6A-5488-4B3E-833D-FFA78DED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8610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屏障增强是否一定提高抗逆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C98F9E-3230-4F6D-8F26-B3C292FB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AFE462-9EFC-451A-AC83-EFBB88FE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24250"/>
            <a:ext cx="2533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能否精准改造而不牺牲养分吸收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F7DEE1-7AA3-4BA8-AA2D-C8BC99CD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8A7791-28D0-4606-81CA-DF20BAC6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Casparian strip research progress | draft for discussion</a:t>
            </a:r>
          </a:p>
        </p:txBody>
      </p:sp>
    </p:spTree>
    <p:extLst>
      <p:ext uri="{BB962C8B-B14F-4D97-AF65-F5344CB8AC3E}">
        <p14:creationId xmlns:p14="http://schemas.microsoft.com/office/powerpoint/2010/main" val="4804815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358F0-0CE6-4913-B6D1-EECBC5D5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2FE3B-5FCA-4D16-A5FE-91AA058D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4207B-E150-408C-B356-A5AACDE8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4E"/>
                </a:solidFill>
                <a:latin typeface="Aptos"/>
                <a:ea typeface="Aptos"/>
                <a:cs typeface="Aptos"/>
              </a:rPr>
              <a:t>ANATOMY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482FE-784F-4B3C-9470-D49D04CC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空间定位决定功能：凯氏带拦截质外体通路，迫使溶质经过膜选择。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C02A0-FBB5-4E19-97F7-60E2FA99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207FC-1D34-4F95-BEEE-A20BB870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9" y="1769269"/>
            <a:ext cx="3067050" cy="3067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EB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E1487-352E-4B1F-B44E-791E8CE3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96" y="2141696"/>
            <a:ext cx="2322195" cy="2322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6C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A12F6-FEBA-45FD-B0F0-443488A0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24" y="2514124"/>
            <a:ext cx="1577340" cy="1577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10307-1A12-446B-B81C-70235DEE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" y="2108835"/>
            <a:ext cx="2387918" cy="2387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B978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AD5C4-B510-4B9B-97B8-33BAA968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56" y="2032159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7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782E"/>
                </a:solidFill>
                <a:latin typeface="Microsoft YaHei"/>
                <a:ea typeface="Microsoft YaHei"/>
                <a:cs typeface="Microsoft YaHei"/>
              </a:rPr>
              <a:t>凯氏带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91AFC-7CE6-41B6-8875-40C4BD3D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rPr>
              <a:t>根横截面概念图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FB813-127C-49A2-BC65-D7DEE02C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6000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32896-99D4-411B-9E9D-91D462B6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62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运输路径的分流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1F05A-B7CF-4579-A600-BF7A9A3C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5750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7B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3012C-F4CD-4597-911F-4982C4D5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09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8283D-A2C8-49C7-AC1B-F8509C69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皮层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862A8-8774-42B7-A2C0-DBE5A093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内皮层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A2BC4-28CE-4665-9496-FF0CD915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2557463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C8BAF-4946-4BC6-ABCD-935BC5C5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53300" y="24955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F3FD2-C105-448B-B62B-226E88ED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rPr>
              <a:t>质外体流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ED787-A333-43A7-A016-08762607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2557463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39E53-49FB-4A13-9FFB-67A3B91E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86675" y="24955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45F86-F93A-43B9-82F6-8E1855E3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rPr>
              <a:t>被阻断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92F17-29E9-4E44-B689-819D4B5B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3986213"/>
            <a:ext cx="1838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B3364-488E-4D6B-BA42-64979775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34550" y="3924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F5CA11-FA55-40A0-B4E0-E86F499F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386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经转运蛋白选择进入中柱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3B35D-DB41-4908-A714-25FA99D4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43500"/>
            <a:ext cx="552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功能关键词：选择性吸收、离子稳态、避免旁路泄漏、限制毒性元素进入中柱。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9B52DD-92B8-4424-AC0D-51A32F50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117E4-D828-4F61-98C6-67126E98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Casparian strip research progress | draft for discussion</a:t>
            </a:r>
          </a:p>
        </p:txBody>
      </p:sp>
    </p:spTree>
    <p:extLst>
      <p:ext uri="{BB962C8B-B14F-4D97-AF65-F5344CB8AC3E}">
        <p14:creationId xmlns:p14="http://schemas.microsoft.com/office/powerpoint/2010/main" val="3700108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2150A-6DED-4BFD-A107-2ABEDEAE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5A15F-05AA-4CFE-9764-02FBA699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D49EB-4DEB-4A67-818E-FDB01C14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4E"/>
                </a:solidFill>
                <a:latin typeface="Aptos"/>
                <a:ea typeface="Aptos"/>
                <a:cs typeface="Aptos"/>
              </a:rPr>
              <a:t>FIELD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4E02F-4A16-471B-8EFB-C211821E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研究重心从“化学屏障”转向“细胞定位 + 完整性监测 + 环境调节”。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7EAC4-3FB7-4F8F-B61E-06D6AD09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A5232-BF82-4A86-BA73-EC9BB441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F230F-4AFC-4FF2-AE9E-534702F3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05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5028E-7039-4F24-9B77-9117B596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1990s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BD5C1-E0EC-451B-ADDE-8FF1CC5C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43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结构与化学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88F2B-1C67-4194-80D2-AF7D4153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6860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rPr>
              <a:t>凯氏带/栓质层作为质外体屏障被系统描述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6CFBD-7951-4F70-84C3-440BFA99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98392-797A-44C3-A814-2F63480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05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3B875-AD42-4ACD-9104-58B253E9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909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2011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0C240-BCCC-47C9-BEC6-E017B801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76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CASP scaffold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EFE88-879F-416F-A36F-50088F85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196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rPr>
              <a:t>CASP 蛋白定义内皮层膜域，限定沉积位置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A964-5CD0-486F-A0D7-3F8B2E7C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212E2-E32F-4718-A7A8-1F1B6C20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305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BCA55-23B3-49F1-AEED-A15C1E44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574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2015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ECA6B-4E51-4391-9D5C-54F474A0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43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MYB36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25419-DE71-45B6-97D4-7A4CCD34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860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rPr>
              <a:t>转录因子 MYB36 被确认为形成开关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10BC9-13DF-4144-96EE-9ED9BB9D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908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E937A-E364-4A19-9636-11361C1B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05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79291-043C-465E-92E2-8F066352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909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2016–2017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0701F-F042-4541-A33C-8074057F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SGN pathway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D2D2C-6D0C-408E-8317-1CD308EF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196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rPr>
              <a:t>CIF–SGN3–SGN1 连接屏障缺陷与修复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8D567A-2C17-4259-BEE6-FFF58A48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F8FAD-DFE4-4EBC-BEC0-F963D537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305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5290FF-21CA-48AD-8A62-DC651F48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574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2020s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0A11E-DE1E-4D7F-A562-886C0377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可塑性与作物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DEF9A-0117-4B6B-8A59-85E8F863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860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rPr>
              <a:t>养分、盐胁迫、外皮层和作物根屏障成为热点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F98D9B-8CF3-4C99-AF23-2591A5B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908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3421D8-F6C7-481E-8658-618E4E0D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904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027"/>
                </a:solidFill>
                <a:latin typeface="Microsoft YaHei"/>
                <a:ea typeface="Microsoft YaHei"/>
                <a:cs typeface="Microsoft YaHei"/>
              </a:rPr>
              <a:t>结论：凯氏带研究现在更像一个“发育定位 + 屏障质量控制 + 环境响应”的系统问题。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9D8B25-F21D-4FC9-9B4E-41BA219A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9996F3-4DD6-4987-B2F6-1355C4A2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Casparian strip research progress | draft for discussion</a:t>
            </a:r>
          </a:p>
        </p:txBody>
      </p:sp>
    </p:spTree>
    <p:extLst>
      <p:ext uri="{BB962C8B-B14F-4D97-AF65-F5344CB8AC3E}">
        <p14:creationId xmlns:p14="http://schemas.microsoft.com/office/powerpoint/2010/main" val="272281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0B5349-E7E8-4603-9B91-A0B0E653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A835D-E222-4A4B-AA7B-FD0B01F8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CCF70-5E9D-459C-BF67-384F1DF8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4E"/>
                </a:solidFill>
                <a:latin typeface="Aptos"/>
                <a:ea typeface="Aptos"/>
                <a:cs typeface="Aptos"/>
              </a:rPr>
              <a:t>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08357-A2D5-4931-9C38-F675AE2F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需要分清两个屏障：凯氏带偏“木质素带”，栓质层偏“脂质化内壁”。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52BED-5655-4D82-8E7C-2DF5E8ED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302F2-36FE-4311-9CB8-7C8CCE1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762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4A2D8-F6D1-4CA3-A2CA-98B8E0E4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7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782E"/>
                </a:solidFill>
                <a:latin typeface="Microsoft YaHei"/>
                <a:ea typeface="Microsoft YaHei"/>
                <a:cs typeface="Microsoft YaHei"/>
              </a:rPr>
              <a:t>Casparian strip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AEE30-EC10-49E5-AA2D-88A9727F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B08F8-42CE-4E53-AD40-9E308CE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径向/横向细胞壁中的局部木质素沉积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EF393-1BE8-4A46-8038-377DD89E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rPr>
              <a:t>主要角色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FE680-48DD-4D67-8483-99A1D459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CASP · PER64 · ESB1 · RBOHF · MYB36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709A6-EB4A-4C2F-9FCB-7DDC8952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762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EB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EB71B-F6D7-4C8A-BE00-B8F078B5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5262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8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F8F3D"/>
                </a:solidFill>
                <a:latin typeface="Microsoft YaHei"/>
                <a:ea typeface="Microsoft YaHei"/>
                <a:cs typeface="Microsoft YaHei"/>
              </a:rPr>
              <a:t>Suberin lamellae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C787A-175D-4AEF-8184-C6C8D7AB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323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A1D43-7A1C-4FE8-B218-BB91AA10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14625"/>
            <a:ext cx="323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BB39C-5A4F-4763-B217-09C1A2A2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14625"/>
            <a:ext cx="323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77403-6B69-4FB4-8F7D-51D91F17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内皮层后期或胁迫诱导的脂质化沉积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E2259-5D57-4220-9BE6-2763279F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7B70"/>
                </a:solidFill>
                <a:latin typeface="Microsoft YaHei"/>
                <a:ea typeface="Microsoft YaHei"/>
                <a:cs typeface="Microsoft YaHei"/>
              </a:rPr>
              <a:t>主要角色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60C53-72B2-426B-BF45-23CB50FF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38600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ABCG/GPAT/CYP86 · MYB41/92 · ABA/营养信号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26D0F-8323-448F-9FBA-C9E152BF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rPr>
              <a:t>讲稿提示：很多教材把凯氏带简单说成“suberin”，但拟南芥凯氏带功能性屏障主要依赖木质素；栓质层是另一个阶段。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E2BAB-F1AF-4E3E-BEB7-E46BD46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CF67F9-0627-4392-AC75-69FBF89A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Casparian strip research progress | draft for discussion</a:t>
            </a:r>
          </a:p>
        </p:txBody>
      </p:sp>
    </p:spTree>
    <p:extLst>
      <p:ext uri="{BB962C8B-B14F-4D97-AF65-F5344CB8AC3E}">
        <p14:creationId xmlns:p14="http://schemas.microsoft.com/office/powerpoint/2010/main" val="11271694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EC2B2-756D-4BA2-BA75-466ACD7F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86FD1-CD39-4FFF-8FC9-B875F66B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B356E-4800-4E87-A2A5-3F70C3B1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4E"/>
                </a:solidFill>
                <a:latin typeface="Aptos"/>
                <a:ea typeface="Aptos"/>
                <a:cs typeface="Aptos"/>
              </a:rPr>
              <a:t>LOCALIZATION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FAAF4-ED92-48D6-B733-094A53C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CASP 膜域把木质素聚合机器限制在一条窄带上。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04D27-098E-411B-A5AA-26664178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62928-2A35-45E1-A22F-219D7466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9906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92A20-7AC8-43C0-A5D7-86668FBA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9525">
            <a:solidFill>
              <a:srgbClr val="3E70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45D62-B924-423D-BD4E-15C29180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670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rPr>
              <a:t>内皮层分化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52687-1DB2-4A17-B4A6-ED3522D9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E2"/>
          </a:solidFill>
          <a:ln xmlns:a="http://schemas.openxmlformats.org/drawingml/2006/main" w="9525">
            <a:solidFill>
              <a:srgbClr val="2F6F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C145D-2C98-4746-8CB2-124256EA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CASP1–5</a:t>
            </a:r>
          </a:p>
          <a:p xmlns:a="http://schemas.openxmlformats.org/drawingml/2006/main">
            <a:pPr algn="ctr">
              <a:defRPr sz="13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形成膜域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93B50-E092-41E1-A023-2929CEF6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C8"/>
          </a:solidFill>
          <a:ln xmlns:a="http://schemas.openxmlformats.org/drawingml/2006/main" w="9525">
            <a:solidFill>
              <a:srgbClr val="C99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F94C0-C62D-4DCD-BBAA-14FF3118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670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招募 PER64</a:t>
            </a:r>
          </a:p>
          <a:p xmlns:a="http://schemas.openxmlformats.org/drawingml/2006/main">
            <a:pPr algn="ctr">
              <a:defRPr sz="13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与 RBOHF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00B3D-0582-45F5-88AB-002B8E9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4"/>
          </a:solidFill>
          <a:ln xmlns:a="http://schemas.openxmlformats.org/drawingml/2006/main" w="9525">
            <a:solidFill>
              <a:srgbClr val="B765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F9FC6-4C27-4DAD-AD6A-71D872E2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rPr>
              <a:t>局部氧化</a:t>
            </a:r>
          </a:p>
          <a:p xmlns:a="http://schemas.openxmlformats.org/drawingml/2006/main">
            <a:pPr algn="ctr">
              <a:defRPr sz="135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rPr>
              <a:t>单体聚合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4D5EC-DBD6-4F01-A52F-1C6DFE72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F6"/>
          </a:solidFill>
          <a:ln xmlns:a="http://schemas.openxmlformats.org/drawingml/2006/main" w="9525">
            <a:solidFill>
              <a:srgbClr val="7763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7C9DB-B256-4AF9-BACB-AAE48475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670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76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763A8"/>
                </a:solidFill>
                <a:latin typeface="Microsoft YaHei"/>
                <a:ea typeface="Microsoft YaHei"/>
                <a:cs typeface="Microsoft YaHei"/>
              </a:rPr>
              <a:t>连续凯氏带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7792A-BEA0-42FC-93A6-116068C5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2900363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321C6-1E1B-447F-95ED-EA449625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05175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9EB67-47B2-4315-B4EF-8D514D04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2900363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9A0DF-4643-4C5C-B0CB-7BD0E323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00675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74BE8-8CDF-4402-8B17-48466828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2900363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0064D-02EC-40F3-A12B-AB7057CE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96175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32828-4234-4933-9A81-EFB49B11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900363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599DD5-4644-40B3-B5BC-966A5502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01175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D830E-C045-47E5-A526-4E833F01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定位问题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024E8-7347-44E6-9068-33EF0AF8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828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木质素单体并不天然只在一条线聚合；CASP 域像“施工围栏”，把聚合酶和 ROS 生成限制到特定位点。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42931-4391-4546-9DAA-178B07C6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F5DFEE-C166-4515-80A2-4368EB1F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Key sources: Roppolo et al. 2011; Lee et al. 2013; Kamiya et al. 2015</a:t>
            </a:r>
          </a:p>
        </p:txBody>
      </p:sp>
    </p:spTree>
    <p:extLst>
      <p:ext uri="{BB962C8B-B14F-4D97-AF65-F5344CB8AC3E}">
        <p14:creationId xmlns:p14="http://schemas.microsoft.com/office/powerpoint/2010/main" val="20429858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3FDD30-02B1-4397-AAF9-7A4A030D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318F6-9DFD-4FF9-97F6-CF74D548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6B0D1-A5DD-4A6E-9889-AD60D5AD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4E"/>
                </a:solidFill>
                <a:latin typeface="Aptos"/>
                <a:ea typeface="Aptos"/>
                <a:cs typeface="Aptos"/>
              </a:rPr>
              <a:t>TRANSCRIPTION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9CDC6-B66B-4C41-981D-EFC5A776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MYB36 像主开关：把内皮层身份转换成凯氏带施工程序。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B5AA9-179A-44F9-993C-E46C5887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02B39-5C56-42BA-BA93-48B31D76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9525">
            <a:solidFill>
              <a:srgbClr val="3E70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CEF7F-B8EF-4759-8D65-AFE2BF4F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150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rPr>
              <a:t>SHR/SCR</a:t>
            </a:r>
          </a:p>
          <a:p xmlns:a="http://schemas.openxmlformats.org/drawingml/2006/main">
            <a:pPr algn="ctr">
              <a:defRPr sz="165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rPr>
              <a:t>内皮层身份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B8501-4FEA-4CEB-8F72-81F8AE93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E2"/>
          </a:solidFill>
          <a:ln xmlns:a="http://schemas.openxmlformats.org/drawingml/2006/main" w="9525">
            <a:solidFill>
              <a:srgbClr val="2F6F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AA60A-FDE8-4E46-92E0-1603DBC4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150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MYB36</a:t>
            </a:r>
          </a:p>
          <a:p xmlns:a="http://schemas.openxmlformats.org/drawingml/2006/main">
            <a:pPr algn="ctr">
              <a:defRPr sz="16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转录开关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80AC4-F66F-476F-96A5-C7A1110B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C8"/>
          </a:solidFill>
          <a:ln xmlns:a="http://schemas.openxmlformats.org/drawingml/2006/main" w="9525">
            <a:solidFill>
              <a:srgbClr val="C99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E0387-629D-46BB-8C83-AE6A1888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150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CASP / ESB1</a:t>
            </a:r>
          </a:p>
          <a:p xmlns:a="http://schemas.openxmlformats.org/drawingml/2006/main">
            <a:pPr algn="ctr">
              <a:defRPr sz="16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PER64 等执行因子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02581-6F0F-444D-B849-455A3065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4"/>
          </a:solidFill>
          <a:ln xmlns:a="http://schemas.openxmlformats.org/drawingml/2006/main" w="9525">
            <a:solidFill>
              <a:srgbClr val="B765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B1302-5E37-44C9-852E-2378D5AD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150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rPr>
              <a:t>定点木质素</a:t>
            </a:r>
          </a:p>
          <a:p xmlns:a="http://schemas.openxmlformats.org/drawingml/2006/main">
            <a:pPr algn="ctr">
              <a:defRPr sz="165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rPr>
              <a:t>+ 功能屏障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D3417-D36B-4C85-8158-59581E6C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14801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F25A7-1B9C-4E9F-B805-0289D9DA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76575" y="3086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F58B0-0F3A-4423-B314-D732678A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314801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A43AA-3CF1-43FB-9DC7-9D1486E9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57825" y="3086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6EA32-82EF-47C1-A4F9-532E37A4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3148013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55C8F-BEDD-4AB9-9528-53C06D1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77225" y="3086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F053C-0503-404A-A978-3417BD28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9625"/>
            <a:ext cx="962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C8914-835D-4BC9-8980-E29140AD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遗传证据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FAEDD-6249-4AB1-A4B2-15821025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006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myb36 突变体中，内皮层细胞间接触位点的木质素沉积显著缺失，PI penetration 等实验显示质外体屏障失效。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9A796F-0785-41E7-A759-DCF5729F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B581F-BFF1-4DDC-B03C-A530F257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Key source: Kamiya et al. 2015, PNAS; Liberman et al. 2015</a:t>
            </a:r>
          </a:p>
        </p:txBody>
      </p:sp>
    </p:spTree>
    <p:extLst>
      <p:ext uri="{BB962C8B-B14F-4D97-AF65-F5344CB8AC3E}">
        <p14:creationId xmlns:p14="http://schemas.microsoft.com/office/powerpoint/2010/main" val="6758487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9DE810-FAB0-460D-8641-44E764D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54106-4239-4B31-BA29-E484A80F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D4FE6-28D5-4925-84A2-7D3423C7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4E"/>
                </a:solidFill>
                <a:latin typeface="Aptos"/>
                <a:ea typeface="Aptos"/>
                <a:cs typeface="Aptos"/>
              </a:rPr>
              <a:t>SURVEILLANCE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0CF69-1632-48BA-82D4-5D61AE1E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SGN3/CIF 通路把凯氏带变成一个会被“验收”的屏障。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34D97-A61E-443F-AAA3-915887A6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9613E-BEF5-4D67-9332-27686C71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382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DB1B4-066F-4C24-AF8A-4E6464E9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rPr>
              <a:t>屏障缺口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5EC1D-C45B-446D-82CD-E77D6EA6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F3CCB-995E-4CF7-936E-F3747FE1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1465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A4506-4ACB-4A70-8726-9B42FDCA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rPr>
              <a:t>CIF1/2 peptide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0EEE5-2724-4811-B37B-ABF04F1A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4283F-7142-448B-9C80-841F06CE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9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20DAA-C938-4A14-9AAF-15B4A676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09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C6F00-F96D-49EA-8A4F-1F615E3D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SGN3/GSO1</a:t>
            </a:r>
          </a:p>
          <a:p xmlns:a="http://schemas.openxmlformats.org/drawingml/2006/main">
            <a:pPr algn="ctr">
              <a:defRPr sz="16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受体激酶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29C85-75A0-4E1E-849A-D7F9C19D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E2"/>
          </a:solidFill>
          <a:ln xmlns:a="http://schemas.openxmlformats.org/drawingml/2006/main" w="19050">
            <a:solidFill>
              <a:srgbClr val="2F6F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E593C-76A2-4391-9A14-611ACE33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SGN1/PBL15</a:t>
            </a:r>
          </a:p>
          <a:p xmlns:a="http://schemas.openxmlformats.org/drawingml/2006/main">
            <a:pPr algn="ctr">
              <a:defRPr sz="16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下游定位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ED579-56AC-47DA-93C5-3E91C1C6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C8"/>
          </a:solidFill>
          <a:ln xmlns:a="http://schemas.openxmlformats.org/drawingml/2006/main" w="19050">
            <a:solidFill>
              <a:srgbClr val="C99B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CA74B-732A-4D00-93ED-C86605DF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150" y="3014663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5EBE2-E692-4604-A72F-047C207B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76675" y="2952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F4AD4-4BB3-42D8-BD97-7C6F0D4A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875" y="3014663"/>
            <a:ext cx="128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8F5EE-817D-4BB2-8821-CEB17E3B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72225" y="2952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F3D3A4-0B23-4E64-8392-E380709D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3014663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FC160-6CA6-4FD3-9322-385AA519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48725" y="2952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EA61F-F500-48FA-B89C-58F7D902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如果屏障不连续，来自中柱侧的 CIF 肽更容易接触 SGN3，触发定位修复和补偿性栓质化。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0E6D2-027E-4DCF-BC26-EC5907CB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5DF21-7FBD-4D49-862E-E0768881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Key sources: Pfister et al. 2014; Doblas et al. 2017; SGN1 Nature Plants 2016</a:t>
            </a:r>
          </a:p>
        </p:txBody>
      </p:sp>
    </p:spTree>
    <p:extLst>
      <p:ext uri="{BB962C8B-B14F-4D97-AF65-F5344CB8AC3E}">
        <p14:creationId xmlns:p14="http://schemas.microsoft.com/office/powerpoint/2010/main" val="15602242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484C1-D06C-4412-9A67-972233F0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719A2-47D4-4F42-A11A-FFC45F9D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69B21-5EA7-4144-B62E-98472DDD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4E"/>
                </a:solidFill>
                <a:latin typeface="Aptos"/>
                <a:ea typeface="Aptos"/>
                <a:cs typeface="Aptos"/>
              </a:rPr>
              <a:t>PLASTICITY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8088B-FAE7-44E9-B5CB-6DE9AAB6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环境信号主要通过栓质化和屏障成熟节律来调节根部通透性。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7C26A-732C-401A-A0FF-54BF5F67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E4101-1EBE-4C7E-B274-6075C324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3E70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F062F-5FB6-47AF-8B44-A154208E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ADDA2-3020-40E8-AC1C-96F51767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rPr>
              <a:t>盐胁迫 / 干旱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BCE40-763F-4E66-9FC1-A6405D3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增强栓质沉积，降低水分和离子旁路泄漏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D7239-F5D6-4622-87DB-AA11CFF7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2F6F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BBA65-25B5-467A-963F-37400FE2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55347-FFAF-4C6B-86D1-C094860E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营养状态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D044C-B574-4917-B653-28A35166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N、Fe、P 等影响内皮层屏障成熟与选择性吸收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705BE-4497-4650-ABDC-53FF93EA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99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7FDCB-1102-437A-A14C-A9242D40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F5E9C-CE53-4309-9352-E5097741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528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激素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20D04-F393-4742-9EDC-E2797F61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9100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ABA、乙烯和细胞分裂素参与调控屏障可塑性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42F55-B0B0-4C5E-BC81-B56BD0D9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765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DE55D7-186F-42CB-A03D-88DA40C3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AB5D7-5889-4FE2-9B11-32A8FA83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528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rPr>
              <a:t>病原与免疫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564E9-7E33-4BA3-851C-475BD7D9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屏障重塑限制入侵，也可能影响根际互作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D1D73-B352-439C-BDA8-28C6F502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027"/>
                </a:solidFill>
                <a:latin typeface="Microsoft YaHei"/>
                <a:ea typeface="Microsoft YaHei"/>
                <a:cs typeface="Microsoft YaHei"/>
              </a:rPr>
              <a:t>研究趋势：不再只问“有没有凯氏带”，而是问屏障何时形成、在哪里加强、是否可逆，以及代价是什么。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A9497-4421-4B57-9B57-62998C92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D91F6-BCDF-40C8-81A8-9958F2D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Key sources: suberin plasticity reviews; SGN3/GSO1 signaling studies</a:t>
            </a:r>
          </a:p>
        </p:txBody>
      </p:sp>
    </p:spTree>
    <p:extLst>
      <p:ext uri="{BB962C8B-B14F-4D97-AF65-F5344CB8AC3E}">
        <p14:creationId xmlns:p14="http://schemas.microsoft.com/office/powerpoint/2010/main" val="2511526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1315A-1AFD-4232-999B-3A19125C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62D63-520B-47CC-A8A5-D3DFFD05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B3A60-B57D-4178-8CDA-F12CCC04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4E"/>
                </a:solidFill>
                <a:latin typeface="Aptos"/>
                <a:ea typeface="Aptos"/>
                <a:cs typeface="Aptos"/>
              </a:rPr>
              <a:t>CROP ANGLE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A6FF9-8994-49D7-87A1-2A96462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从拟南芥走向作物：外皮层和多层屏障是下一轮重点。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0B513-80EF-45E0-AF91-F903B8C6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F35C4-4763-4192-99AD-3DE473FA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5265A-B18D-4345-A493-AB749BB5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模型植物给出的框架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AF02F-6264-4DFD-9681-0B71560A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05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2AFF6-6807-4EF9-AFE5-A09C7F9A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2887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内皮层凯氏带由发育程序精确定位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AAC67-1EC0-4B17-886B-41DF8AD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19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24305-1728-4802-9A6E-29B106CB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4322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SGN 通路监测屏障连续性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2E984-E985-4F27-A03D-7DE33D35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5DE40-AE36-40D6-A6A4-230182B9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5757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屏障缺陷可诱导补偿性栓质化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FD28E-F18D-4E4E-B013-B853B0DE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A0094-4AC7-45D4-A359-16698B2C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7192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遗传工具和成像体系成熟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3CA5D-2440-43B0-9911-7A7E4A91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1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B3D7E-F7D8-499B-A1EA-506DA8E9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作物根系提出的新问题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32B92-54E9-47DA-B533-95A716A1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05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FF26C-CFF8-4A09-9706-E65CA0D8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42887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水稻、玉米等常有外皮层/exodermis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EBAF4-D7C2-43B6-9BE8-ADA56801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19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C7218-7D22-4996-BAE2-6DE14A6E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4322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多层屏障影响盐、干旱和养分吸收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13AE4-A721-48FF-9F49-8E5DD9B3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D34FF-BA33-4056-AA32-4ADAF747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5757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根龄、组织位置和环境强烈改变屏障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ADFE7-A496-42A9-AB34-E838C7F1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F5804C-1BE5-427B-82ED-01F47802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7192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育种目标需要平衡抗逆与吸收效率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A69492-437A-4D5B-A5E1-B90CC563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rPr>
              <a:t>应用判断：增强屏障不一定总是好事；更有价值的是让屏障在正确组织、正确时期、正确压力下增强。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CFE2A-EF65-408A-BC35-91806B61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ECCC45-779C-4246-9351-1FA1BAB2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Key sources: exodermis reviews; crop apoplastic barrier studies</a:t>
            </a:r>
          </a:p>
        </p:txBody>
      </p:sp>
    </p:spTree>
    <p:extLst>
      <p:ext uri="{BB962C8B-B14F-4D97-AF65-F5344CB8AC3E}">
        <p14:creationId xmlns:p14="http://schemas.microsoft.com/office/powerpoint/2010/main" val="17442054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83219-CEF8-4B05-8CFF-77D88E93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E95B7-661C-4249-A9F8-C7B78EFA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7230D-36EA-4D26-9B22-32CE92A7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4E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1B45C-C831-4ABB-8939-6AB6F5D5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方法进展让凯氏带从“染色观察”变成可定量的细胞生物学系统。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AF6ED-E995-4528-B18C-1C50A02A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6F52B-BC82-4FB8-98A4-2BBAF2C6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619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2F6F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DD857-A7C9-4812-BF48-B8DE6E0F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619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06255-6BF0-4449-9DB6-0AA4C2BF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431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成像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3EDAE-FDAA-4D05-9EEC-B9BCFCB7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56B25-0639-414D-97CF-8DEEE3EE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PI penetration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6992A-A24B-4FE6-8DF7-78E35C39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DBBB9-8566-4DFA-98AF-E0ABFD97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003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Basic fuchsin / ClearSee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564A9-940D-40F4-9805-3DC6C7D8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DF195-85D5-4133-97C9-0775A35A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24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CASP1::GFP live imaging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EC2C1-DDAF-4E79-A7DF-78B43BDA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81656-83E5-4605-8452-CC8C6D7D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3D confocal / light-sheet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E0B8B-90BC-435A-8C27-BD21CBF3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619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3E708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30C97-0E5B-40A2-BAAD-BA45C164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619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A81CE6-3303-42DD-9A70-7C6F446E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431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E708D"/>
                </a:solidFill>
                <a:latin typeface="Microsoft YaHei"/>
                <a:ea typeface="Microsoft YaHei"/>
                <a:cs typeface="Microsoft YaHei"/>
              </a:rPr>
              <a:t>组学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FDFEF-16E4-42A3-B086-BD6B9C14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F01C0-CA0B-4567-ADE6-70122DB0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单细胞/单核 RNA-seq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6BD68-CA5D-4445-BAEB-89DA66A6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D0C39-762B-43CF-85AA-64FFC485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003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细胞类型特异表达谱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BDCC7-E438-4E9C-8C90-E7085651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1035B6-E300-484A-B2FC-DFE4679A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空间转录组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D45FB-177E-4F49-878F-9DC68B8F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87A9E7-6E9E-4EC4-A896-39D06C47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481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蛋白互作与定位组学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0B60B-3957-4861-940F-19963ECE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2619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99B4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9A42DF-A0E7-4111-A146-43473247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2619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46FAE2-330A-4F80-8FAB-13BC6CCB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431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遗传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4088FA-A461-42BD-A2D0-1F4A35A0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8C1310-218F-457C-A38F-7E9417BD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76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forward screen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93830E-0A55-4EEC-974E-271A7892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6B5189-93AC-4F9D-ACB0-29C8D572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003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CRISPR 多基因突变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44A4A1-7668-4436-B0A7-C90CF5DA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D8CFDB-B767-4A4D-A487-3734B215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24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细胞类型特异 rescue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94D261-5890-44EC-AF5D-13644B97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560C02-F9B9-4152-92C7-4B54FBD6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481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报告基因和诱导表达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5C9221-098F-45B9-9CE1-BDD744DF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619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765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05C589-6667-4C21-9030-79A79D66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619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DE7801-44BD-452D-8DBA-A3012F82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431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7654B"/>
                </a:solidFill>
                <a:latin typeface="Microsoft YaHei"/>
                <a:ea typeface="Microsoft YaHei"/>
                <a:cs typeface="Microsoft YaHei"/>
              </a:rPr>
              <a:t>化学与功能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0142E1-018A-44C7-8477-76137454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DF675A-A6A6-4AF1-AF63-407BBFE4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76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木质素/栓质单体分析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22B862-848B-4A0E-9FBC-3D7D62B5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78EF0B-4B6F-438B-AB32-7903FEE1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003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离子组/营养元素测定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D98261-12F8-496D-986F-36BC6D83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899710-F89F-4B99-B262-E4FA098F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水力导度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385CFA-C13A-4356-B6A2-44E48794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545C20-281B-4F7D-BE20-F8FCC942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481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胁迫生理表型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34614E-AB32-404F-8225-BD5A6CC9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386202-580A-4B5F-9DAE-C8C926A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Casparian strip research progress | draft for discussion</a:t>
            </a:r>
          </a:p>
        </p:txBody>
      </p:sp>
    </p:spTree>
    <p:extLst>
      <p:ext uri="{BB962C8B-B14F-4D97-AF65-F5344CB8AC3E}">
        <p14:creationId xmlns:p14="http://schemas.microsoft.com/office/powerpoint/2010/main" val="10568017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EB90F-7D97-40FC-A866-12214462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34AFA-C4E3-4B2C-87D5-0992F64B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09F29-3876-4BA3-8773-22B787F0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4E"/>
                </a:solidFill>
                <a:latin typeface="Aptos"/>
                <a:ea typeface="Aptos"/>
                <a:cs typeface="Aptos"/>
              </a:rPr>
              <a:t>OPEN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A689C-0E40-442F-8356-6FBF6F15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下一步关键问题：机制保守性、屏障代价，以及可工程化边界。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626DB-E940-4A32-9D5E-8FEB57BF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2A1B8-B8E0-49A0-8F2C-49193A97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1911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A5085-AD6A-4B1D-B913-80CA0ED7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F4E"/>
                </a:solidFill>
                <a:latin typeface="Microsoft YaHei"/>
                <a:ea typeface="Microsoft YaHei"/>
                <a:cs typeface="Microsoft YaHei"/>
              </a:rPr>
              <a:t>可作为讨论结尾的 5 个问题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158E8-3D59-48A9-826C-2B5A1785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E34E8-D390-4B6F-8493-EDDA1D10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2887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CASP/MYB36/SGN 轴在作物中是否完全保守？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E1B4C-E6F3-4A2D-AA07-06015DF8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62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6E3B0-4354-4A9C-97E0-A5B7C0C4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8607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木质素屏障和栓质屏障如何分工、互补或冲突？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55936-981F-42E8-99CA-A0D64FEB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D3EDA-8C47-4E43-A3DD-83BA29B8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4327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屏障增强对不同养分吸收的代价是什么？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25D63-69E2-4EA4-99D6-52AD1690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6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E4879-82DD-4B53-9391-58ACD31B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0047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外皮层屏障能否成为抗盐/抗旱育种靶点？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3AC1A-F7C4-4110-BBE9-43C84E98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76956-FC52-4C07-B441-DF76EA3B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5767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能否用细胞类型特异调控实现“低代价屏障增强”？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73A5C-59FB-490A-B97B-137665AE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50006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6EC"/>
          </a:solidFill>
          <a:ln xmlns:a="http://schemas.openxmlformats.org/drawingml/2006/main" w="9525">
            <a:solidFill>
              <a:srgbClr val="D8D1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3BC73-52D3-4C14-A9A1-67D8E8F0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9B45"/>
                </a:solidFill>
                <a:latin typeface="Microsoft YaHei"/>
                <a:ea typeface="Microsoft YaHei"/>
                <a:cs typeface="Microsoft YaHei"/>
              </a:rPr>
              <a:t>参考文献入口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677A5-30A3-48B2-81A0-62174C4C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Roppolo et al., 2011, Nature: CASP family and CS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CE825-2B89-4A24-BEB3-833C8BF9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Lee et al., 2013, Cell: localized lignin deposition machinery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831C0-59C4-4919-988F-F3B852BF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Kamiya et al., 2015, PNAS: MYB36 controls CS 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E323A-D6D1-4DD3-BBCF-64FBAFDF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Pfister et al., 2014; Doblas et al., 2017: CIF–SGN3 pathway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9DEFB-5C37-46FE-A102-35E3E205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Barbosa et al., 2019, Science Reports: CS defects induce suberin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A6A61-F591-4E2C-AA96-BB97078B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Plant Science 2025 review: suberin plasticity under environment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A70975-F68F-46A1-A56B-4C60F2EC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A23"/>
                </a:solidFill>
                <a:latin typeface="Microsoft YaHei"/>
                <a:ea typeface="Microsoft YaHei"/>
                <a:cs typeface="Microsoft YaHei"/>
              </a:rPr>
              <a:t>IJBM 2024 review: lignin and Casparian strip barriers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96EADD-6F34-4AFB-AE74-474DBCB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CC5BDD-73EC-4918-8BD0-609F9E50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B70"/>
                </a:solidFill>
                <a:latin typeface="Aptos"/>
                <a:ea typeface="Aptos"/>
                <a:cs typeface="Aptos"/>
              </a:rPr>
              <a:t>Sources: primary papers and recent reviews; update with lab-specific papers before formal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469493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2026-06-02T15:04:07.7720000Z</dcterms:created>
  <dcterms:modified xsi:type="dcterms:W3CDTF">2026-06-02T15:04:07.7720000Z</dcterms:modified>
</coreProperties>
</file>